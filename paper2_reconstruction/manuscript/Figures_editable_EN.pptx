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11430000" cy="457200"/>
          </a:xfrm>
          <a:prstGeom prst="rect">
            <a:avLst/>
          </a:prstGeom>
          <a:noFill/>
        </p:spPr>
        <p:txBody>
          <a:bodyPr wrap="square" lIns="0" rIns="0">
            <a:spAutoFit/>
          </a:bodyPr>
          <a:lstStyle/>
          <a:p>
            <a:pPr>
              <a:defRPr sz="2400">
                <a:solidFill>
                  <a:srgbClr val="0F172A"/>
                </a:solidFill>
              </a:defRPr>
            </a:pPr>
            <a:r>
              <a:t>Figure 1. From description to a working scientific system</a:t>
            </a:r>
          </a:p>
        </p:txBody>
      </p:sp>
      <p:sp>
        <p:nvSpPr>
          <p:cNvPr id="3" name="Rounded Rectangle 2"/>
          <p:cNvSpPr/>
          <p:nvPr/>
        </p:nvSpPr>
        <p:spPr>
          <a:xfrm>
            <a:off x="274320" y="960120"/>
            <a:ext cx="2057400" cy="658368"/>
          </a:xfrm>
          <a:prstGeom prst="roundRect">
            <a:avLst/>
          </a:prstGeom>
          <a:solidFill>
            <a:srgbClr val="E2E8F0"/>
          </a:solidFill>
          <a:ln>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0F172A"/>
                </a:solidFill>
              </a:defRPr>
            </a:pPr>
            <a:r>
              <a:t>ACCESS</a:t>
            </a:r>
          </a:p>
        </p:txBody>
      </p:sp>
      <p:sp>
        <p:nvSpPr>
          <p:cNvPr id="4" name="TextBox 3"/>
          <p:cNvSpPr txBox="1"/>
          <p:nvPr/>
        </p:nvSpPr>
        <p:spPr>
          <a:xfrm>
            <a:off x="2359152" y="1033271"/>
            <a:ext cx="274320" cy="457200"/>
          </a:xfrm>
          <a:prstGeom prst="rect">
            <a:avLst/>
          </a:prstGeom>
          <a:noFill/>
        </p:spPr>
        <p:txBody>
          <a:bodyPr wrap="square" lIns="0" rIns="0">
            <a:spAutoFit/>
          </a:bodyPr>
          <a:lstStyle/>
          <a:p>
            <a:pPr>
              <a:defRPr sz="2000">
                <a:solidFill>
                  <a:srgbClr val="0F172A"/>
                </a:solidFill>
              </a:defRPr>
            </a:pPr>
            <a:r>
              <a:t>→</a:t>
            </a:r>
          </a:p>
        </p:txBody>
      </p:sp>
      <p:sp>
        <p:nvSpPr>
          <p:cNvPr id="5" name="Rounded Rectangle 4"/>
          <p:cNvSpPr/>
          <p:nvPr/>
        </p:nvSpPr>
        <p:spPr>
          <a:xfrm>
            <a:off x="2651760" y="960120"/>
            <a:ext cx="2057400" cy="658368"/>
          </a:xfrm>
          <a:prstGeom prst="roundRect">
            <a:avLst/>
          </a:prstGeom>
          <a:solidFill>
            <a:srgbClr val="0F766E"/>
          </a:solidFill>
          <a:ln>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FFFFFF"/>
                </a:solidFill>
              </a:defRPr>
            </a:pPr>
            <a:r>
              <a:t>RECONSTRUCT</a:t>
            </a:r>
          </a:p>
        </p:txBody>
      </p:sp>
      <p:sp>
        <p:nvSpPr>
          <p:cNvPr id="6" name="TextBox 5"/>
          <p:cNvSpPr txBox="1"/>
          <p:nvPr/>
        </p:nvSpPr>
        <p:spPr>
          <a:xfrm>
            <a:off x="4736592" y="1033271"/>
            <a:ext cx="274320" cy="457200"/>
          </a:xfrm>
          <a:prstGeom prst="rect">
            <a:avLst/>
          </a:prstGeom>
          <a:noFill/>
        </p:spPr>
        <p:txBody>
          <a:bodyPr wrap="square" lIns="0" rIns="0">
            <a:spAutoFit/>
          </a:bodyPr>
          <a:lstStyle/>
          <a:p>
            <a:pPr>
              <a:defRPr sz="2000">
                <a:solidFill>
                  <a:srgbClr val="0F172A"/>
                </a:solidFill>
              </a:defRPr>
            </a:pPr>
            <a:r>
              <a:t>→</a:t>
            </a:r>
          </a:p>
        </p:txBody>
      </p:sp>
      <p:sp>
        <p:nvSpPr>
          <p:cNvPr id="7" name="Rounded Rectangle 6"/>
          <p:cNvSpPr/>
          <p:nvPr/>
        </p:nvSpPr>
        <p:spPr>
          <a:xfrm>
            <a:off x="5029200" y="960120"/>
            <a:ext cx="2057400" cy="658368"/>
          </a:xfrm>
          <a:prstGeom prst="roundRect">
            <a:avLst/>
          </a:prstGeom>
          <a:solidFill>
            <a:srgbClr val="CCFBF1"/>
          </a:solidFill>
          <a:ln>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0F172A"/>
                </a:solidFill>
              </a:defRPr>
            </a:pPr>
            <a:r>
              <a:t>EXECUTE</a:t>
            </a:r>
          </a:p>
        </p:txBody>
      </p:sp>
      <p:sp>
        <p:nvSpPr>
          <p:cNvPr id="8" name="TextBox 7"/>
          <p:cNvSpPr txBox="1"/>
          <p:nvPr/>
        </p:nvSpPr>
        <p:spPr>
          <a:xfrm>
            <a:off x="7114032" y="1033271"/>
            <a:ext cx="274320" cy="457200"/>
          </a:xfrm>
          <a:prstGeom prst="rect">
            <a:avLst/>
          </a:prstGeom>
          <a:noFill/>
        </p:spPr>
        <p:txBody>
          <a:bodyPr wrap="square" lIns="0" rIns="0">
            <a:spAutoFit/>
          </a:bodyPr>
          <a:lstStyle/>
          <a:p>
            <a:pPr>
              <a:defRPr sz="2000">
                <a:solidFill>
                  <a:srgbClr val="0F172A"/>
                </a:solidFill>
              </a:defRPr>
            </a:pPr>
            <a:r>
              <a:t>→</a:t>
            </a:r>
          </a:p>
        </p:txBody>
      </p:sp>
      <p:sp>
        <p:nvSpPr>
          <p:cNvPr id="9" name="Rounded Rectangle 8"/>
          <p:cNvSpPr/>
          <p:nvPr/>
        </p:nvSpPr>
        <p:spPr>
          <a:xfrm>
            <a:off x="7406640" y="960120"/>
            <a:ext cx="2057400" cy="658368"/>
          </a:xfrm>
          <a:prstGeom prst="roundRect">
            <a:avLst/>
          </a:prstGeom>
          <a:solidFill>
            <a:srgbClr val="CCFBF1"/>
          </a:solidFill>
          <a:ln>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0F172A"/>
                </a:solidFill>
              </a:defRPr>
            </a:pPr>
            <a:r>
              <a:t>REPRODUCE</a:t>
            </a:r>
          </a:p>
        </p:txBody>
      </p:sp>
      <p:sp>
        <p:nvSpPr>
          <p:cNvPr id="10" name="TextBox 9"/>
          <p:cNvSpPr txBox="1"/>
          <p:nvPr/>
        </p:nvSpPr>
        <p:spPr>
          <a:xfrm>
            <a:off x="9491472" y="1033271"/>
            <a:ext cx="274320" cy="457200"/>
          </a:xfrm>
          <a:prstGeom prst="rect">
            <a:avLst/>
          </a:prstGeom>
          <a:noFill/>
        </p:spPr>
        <p:txBody>
          <a:bodyPr wrap="square" lIns="0" rIns="0">
            <a:spAutoFit/>
          </a:bodyPr>
          <a:lstStyle/>
          <a:p>
            <a:pPr>
              <a:defRPr sz="2000">
                <a:solidFill>
                  <a:srgbClr val="0F172A"/>
                </a:solidFill>
              </a:defRPr>
            </a:pPr>
            <a:r>
              <a:t>→</a:t>
            </a:r>
          </a:p>
        </p:txBody>
      </p:sp>
      <p:sp>
        <p:nvSpPr>
          <p:cNvPr id="11" name="Rounded Rectangle 10"/>
          <p:cNvSpPr/>
          <p:nvPr/>
        </p:nvSpPr>
        <p:spPr>
          <a:xfrm>
            <a:off x="9784080" y="960120"/>
            <a:ext cx="2057400" cy="658368"/>
          </a:xfrm>
          <a:prstGeom prst="roundRect">
            <a:avLst/>
          </a:prstGeom>
          <a:solidFill>
            <a:srgbClr val="FEF3C7"/>
          </a:solidFill>
          <a:ln>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0F172A"/>
                </a:solidFill>
              </a:defRPr>
            </a:pPr>
            <a:r>
              <a:t>ROBUST</a:t>
            </a:r>
          </a:p>
        </p:txBody>
      </p:sp>
      <p:sp>
        <p:nvSpPr>
          <p:cNvPr id="12" name="TextBox 11"/>
          <p:cNvSpPr txBox="1"/>
          <p:nvPr/>
        </p:nvSpPr>
        <p:spPr>
          <a:xfrm>
            <a:off x="274320" y="1664208"/>
            <a:ext cx="2560320" cy="868680"/>
          </a:xfrm>
          <a:prstGeom prst="rect">
            <a:avLst/>
          </a:prstGeom>
          <a:noFill/>
        </p:spPr>
        <p:txBody>
          <a:bodyPr wrap="square" lIns="0" rIns="0">
            <a:spAutoFit/>
          </a:bodyPr>
          <a:lstStyle/>
          <a:p>
            <a:pPr>
              <a:defRPr sz="1100">
                <a:solidFill>
                  <a:srgbClr val="0F172A"/>
                </a:solidFill>
              </a:defRPr>
            </a:pPr>
            <a:r>
              <a:t>├ resource accessible?</a:t>
            </a:r>
          </a:p>
          <a:p>
            <a:pPr>
              <a:defRPr sz="1100">
                <a:solidFill>
                  <a:srgbClr val="0F172A"/>
                </a:solidFill>
              </a:defRPr>
            </a:pPr>
            <a:r>
              <a:t>├ exact input state identifiable?</a:t>
            </a:r>
          </a:p>
          <a:p>
            <a:pPr>
              <a:defRPr sz="1100">
                <a:solidFill>
                  <a:srgbClr val="0F172A"/>
                </a:solidFill>
              </a:defRPr>
            </a:pPr>
            <a:r>
              <a:t>├ historical input state retrievable?</a:t>
            </a:r>
          </a:p>
        </p:txBody>
      </p:sp>
      <p:sp>
        <p:nvSpPr>
          <p:cNvPr id="13" name="TextBox 12"/>
          <p:cNvSpPr txBox="1"/>
          <p:nvPr/>
        </p:nvSpPr>
        <p:spPr>
          <a:xfrm>
            <a:off x="2926080" y="1664208"/>
            <a:ext cx="6675120" cy="365760"/>
          </a:xfrm>
          <a:prstGeom prst="rect">
            <a:avLst/>
          </a:prstGeom>
          <a:noFill/>
        </p:spPr>
        <p:txBody>
          <a:bodyPr wrap="square" lIns="0" rIns="0">
            <a:spAutoFit/>
          </a:bodyPr>
          <a:lstStyle/>
          <a:p>
            <a:pPr>
              <a:defRPr sz="1500">
                <a:solidFill>
                  <a:srgbClr val="0F172A"/>
                </a:solidFill>
              </a:defRPr>
            </a:pPr>
            <a:r>
              <a:t>Paper II focus; EXECUTE and REPRODUCE observed</a:t>
            </a:r>
          </a:p>
        </p:txBody>
      </p:sp>
      <p:sp>
        <p:nvSpPr>
          <p:cNvPr id="14" name="TextBox 13"/>
          <p:cNvSpPr txBox="1"/>
          <p:nvPr/>
        </p:nvSpPr>
        <p:spPr>
          <a:xfrm>
            <a:off x="2926080" y="2029968"/>
            <a:ext cx="6675120" cy="365760"/>
          </a:xfrm>
          <a:prstGeom prst="rect">
            <a:avLst/>
          </a:prstGeom>
          <a:noFill/>
        </p:spPr>
        <p:txBody>
          <a:bodyPr wrap="square" lIns="0" rIns="0">
            <a:spAutoFit/>
          </a:bodyPr>
          <a:lstStyle/>
          <a:p>
            <a:pPr>
              <a:defRPr sz="1100">
                <a:solidFill>
                  <a:srgbClr val="0F172A"/>
                </a:solidFill>
              </a:defRPr>
            </a:pPr>
            <a:r>
              <a:t>Public resources can drift over time; availability ≠ identity of the input state.</a:t>
            </a:r>
          </a:p>
        </p:txBody>
      </p:sp>
      <p:sp>
        <p:nvSpPr>
          <p:cNvPr id="15" name="TextBox 14"/>
          <p:cNvSpPr txBox="1"/>
          <p:nvPr/>
        </p:nvSpPr>
        <p:spPr>
          <a:xfrm>
            <a:off x="9326880" y="1664208"/>
            <a:ext cx="2743200" cy="457200"/>
          </a:xfrm>
          <a:prstGeom prst="rect">
            <a:avLst/>
          </a:prstGeom>
          <a:noFill/>
        </p:spPr>
        <p:txBody>
          <a:bodyPr wrap="square" lIns="0" rIns="0">
            <a:spAutoFit/>
          </a:bodyPr>
          <a:lstStyle/>
          <a:p>
            <a:pPr>
              <a:defRPr sz="1300">
                <a:solidFill>
                  <a:srgbClr val="0F172A"/>
                </a:solidFill>
              </a:defRPr>
            </a:pPr>
            <a:r>
              <a:t>ROBUST: future Paper III (excluded)</a:t>
            </a:r>
          </a:p>
        </p:txBody>
      </p:sp>
      <p:sp>
        <p:nvSpPr>
          <p:cNvPr id="16" name="TextBox 15"/>
          <p:cNvSpPr txBox="1"/>
          <p:nvPr/>
        </p:nvSpPr>
        <p:spPr>
          <a:xfrm>
            <a:off x="274320" y="2148840"/>
            <a:ext cx="1828800" cy="365760"/>
          </a:xfrm>
          <a:prstGeom prst="rect">
            <a:avLst/>
          </a:prstGeom>
          <a:noFill/>
        </p:spPr>
        <p:txBody>
          <a:bodyPr wrap="square" lIns="0" rIns="0">
            <a:spAutoFit/>
          </a:bodyPr>
          <a:lstStyle/>
          <a:p>
            <a:pPr>
              <a:defRPr sz="1800">
                <a:solidFill>
                  <a:srgbClr val="0F172A"/>
                </a:solidFill>
              </a:defRPr>
            </a:pPr>
            <a:r>
              <a:t>WET</a:t>
            </a:r>
          </a:p>
        </p:txBody>
      </p:sp>
      <p:sp>
        <p:nvSpPr>
          <p:cNvPr id="17" name="Rounded Rectangle 16"/>
          <p:cNvSpPr/>
          <p:nvPr/>
        </p:nvSpPr>
        <p:spPr>
          <a:xfrm>
            <a:off x="274320" y="2606040"/>
            <a:ext cx="1746504" cy="868680"/>
          </a:xfrm>
          <a:prstGeom prst="roundRect">
            <a:avLst/>
          </a:prstGeom>
          <a:solidFill>
            <a:srgbClr val="F0FDFA"/>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a:solidFill>
                  <a:srgbClr val="0F172A"/>
                </a:solidFill>
              </a:defRPr>
            </a:pPr>
            <a:r>
              <a:t>Methods</a:t>
            </a:r>
          </a:p>
        </p:txBody>
      </p:sp>
      <p:sp>
        <p:nvSpPr>
          <p:cNvPr id="18" name="TextBox 17"/>
          <p:cNvSpPr txBox="1"/>
          <p:nvPr/>
        </p:nvSpPr>
        <p:spPr>
          <a:xfrm>
            <a:off x="2029968" y="2862072"/>
            <a:ext cx="201168" cy="365760"/>
          </a:xfrm>
          <a:prstGeom prst="rect">
            <a:avLst/>
          </a:prstGeom>
          <a:noFill/>
        </p:spPr>
        <p:txBody>
          <a:bodyPr wrap="square" lIns="0" rIns="0">
            <a:spAutoFit/>
          </a:bodyPr>
          <a:lstStyle/>
          <a:p>
            <a:pPr>
              <a:defRPr sz="1600">
                <a:solidFill>
                  <a:srgbClr val="0F172A"/>
                </a:solidFill>
              </a:defRPr>
            </a:pPr>
            <a:r>
              <a:t>→</a:t>
            </a:r>
          </a:p>
        </p:txBody>
      </p:sp>
      <p:sp>
        <p:nvSpPr>
          <p:cNvPr id="19" name="Rounded Rectangle 18"/>
          <p:cNvSpPr/>
          <p:nvPr/>
        </p:nvSpPr>
        <p:spPr>
          <a:xfrm>
            <a:off x="2249424" y="2606040"/>
            <a:ext cx="1746504" cy="868680"/>
          </a:xfrm>
          <a:prstGeom prst="roundRect">
            <a:avLst/>
          </a:prstGeom>
          <a:solidFill>
            <a:srgbClr val="F0FDFA"/>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a:solidFill>
                  <a:srgbClr val="0F172A"/>
                </a:solidFill>
              </a:defRPr>
            </a:pPr>
            <a:r>
              <a:t>Materials</a:t>
            </a:r>
          </a:p>
        </p:txBody>
      </p:sp>
      <p:sp>
        <p:nvSpPr>
          <p:cNvPr id="20" name="TextBox 19"/>
          <p:cNvSpPr txBox="1"/>
          <p:nvPr/>
        </p:nvSpPr>
        <p:spPr>
          <a:xfrm>
            <a:off x="4005072" y="2862072"/>
            <a:ext cx="201168" cy="365760"/>
          </a:xfrm>
          <a:prstGeom prst="rect">
            <a:avLst/>
          </a:prstGeom>
          <a:noFill/>
        </p:spPr>
        <p:txBody>
          <a:bodyPr wrap="square" lIns="0" rIns="0">
            <a:spAutoFit/>
          </a:bodyPr>
          <a:lstStyle/>
          <a:p>
            <a:pPr>
              <a:defRPr sz="1600">
                <a:solidFill>
                  <a:srgbClr val="0F172A"/>
                </a:solidFill>
              </a:defRPr>
            </a:pPr>
            <a:r>
              <a:t>→</a:t>
            </a:r>
          </a:p>
        </p:txBody>
      </p:sp>
      <p:sp>
        <p:nvSpPr>
          <p:cNvPr id="21" name="Rounded Rectangle 20"/>
          <p:cNvSpPr/>
          <p:nvPr/>
        </p:nvSpPr>
        <p:spPr>
          <a:xfrm>
            <a:off x="4224528" y="2606040"/>
            <a:ext cx="1746504" cy="868680"/>
          </a:xfrm>
          <a:prstGeom prst="roundRect">
            <a:avLst/>
          </a:prstGeom>
          <a:solidFill>
            <a:srgbClr val="F0FDFA"/>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a:solidFill>
                  <a:srgbClr val="0F172A"/>
                </a:solidFill>
              </a:defRPr>
            </a:pPr>
            <a:r>
              <a:t>Environmental /</a:t>
            </a:r>
          </a:p>
          <a:p>
            <a:pPr algn="ctr">
              <a:defRPr sz="1300">
                <a:solidFill>
                  <a:srgbClr val="0F172A"/>
                </a:solidFill>
              </a:defRPr>
            </a:pPr>
            <a:r>
              <a:t>procedural specification</a:t>
            </a:r>
          </a:p>
        </p:txBody>
      </p:sp>
      <p:sp>
        <p:nvSpPr>
          <p:cNvPr id="22" name="TextBox 21"/>
          <p:cNvSpPr txBox="1"/>
          <p:nvPr/>
        </p:nvSpPr>
        <p:spPr>
          <a:xfrm>
            <a:off x="5980176" y="2862072"/>
            <a:ext cx="201168" cy="365760"/>
          </a:xfrm>
          <a:prstGeom prst="rect">
            <a:avLst/>
          </a:prstGeom>
          <a:noFill/>
        </p:spPr>
        <p:txBody>
          <a:bodyPr wrap="square" lIns="0" rIns="0">
            <a:spAutoFit/>
          </a:bodyPr>
          <a:lstStyle/>
          <a:p>
            <a:pPr>
              <a:defRPr sz="1600">
                <a:solidFill>
                  <a:srgbClr val="0F172A"/>
                </a:solidFill>
              </a:defRPr>
            </a:pPr>
            <a:r>
              <a:t>→</a:t>
            </a:r>
          </a:p>
        </p:txBody>
      </p:sp>
      <p:sp>
        <p:nvSpPr>
          <p:cNvPr id="23" name="Rounded Rectangle 22"/>
          <p:cNvSpPr/>
          <p:nvPr/>
        </p:nvSpPr>
        <p:spPr>
          <a:xfrm>
            <a:off x="6199632" y="2606040"/>
            <a:ext cx="1746504" cy="868680"/>
          </a:xfrm>
          <a:prstGeom prst="roundRect">
            <a:avLst/>
          </a:prstGeom>
          <a:solidFill>
            <a:srgbClr val="F0FDFA"/>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a:solidFill>
                  <a:srgbClr val="0F172A"/>
                </a:solidFill>
              </a:defRPr>
            </a:pPr>
            <a:r>
              <a:t>Reconstruct</a:t>
            </a:r>
          </a:p>
          <a:p>
            <a:pPr algn="ctr">
              <a:defRPr sz="1300">
                <a:solidFill>
                  <a:srgbClr val="0F172A"/>
                </a:solidFill>
              </a:defRPr>
            </a:pPr>
            <a:r>
              <a:t>experiment</a:t>
            </a:r>
          </a:p>
        </p:txBody>
      </p:sp>
      <p:sp>
        <p:nvSpPr>
          <p:cNvPr id="24" name="TextBox 23"/>
          <p:cNvSpPr txBox="1"/>
          <p:nvPr/>
        </p:nvSpPr>
        <p:spPr>
          <a:xfrm>
            <a:off x="7955280" y="2862072"/>
            <a:ext cx="201168" cy="365760"/>
          </a:xfrm>
          <a:prstGeom prst="rect">
            <a:avLst/>
          </a:prstGeom>
          <a:noFill/>
        </p:spPr>
        <p:txBody>
          <a:bodyPr wrap="square" lIns="0" rIns="0">
            <a:spAutoFit/>
          </a:bodyPr>
          <a:lstStyle/>
          <a:p>
            <a:pPr>
              <a:defRPr sz="1600">
                <a:solidFill>
                  <a:srgbClr val="0F172A"/>
                </a:solidFill>
              </a:defRPr>
            </a:pPr>
            <a:r>
              <a:t>→</a:t>
            </a:r>
          </a:p>
        </p:txBody>
      </p:sp>
      <p:sp>
        <p:nvSpPr>
          <p:cNvPr id="25" name="Rounded Rectangle 24"/>
          <p:cNvSpPr/>
          <p:nvPr/>
        </p:nvSpPr>
        <p:spPr>
          <a:xfrm>
            <a:off x="8174736" y="2606040"/>
            <a:ext cx="1746504" cy="868680"/>
          </a:xfrm>
          <a:prstGeom prst="roundRect">
            <a:avLst/>
          </a:prstGeom>
          <a:solidFill>
            <a:srgbClr val="F0FDFA"/>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a:solidFill>
                  <a:srgbClr val="0F172A"/>
                </a:solidFill>
              </a:defRPr>
            </a:pPr>
            <a:r>
              <a:t>Execute</a:t>
            </a:r>
          </a:p>
        </p:txBody>
      </p:sp>
      <p:sp>
        <p:nvSpPr>
          <p:cNvPr id="26" name="TextBox 25"/>
          <p:cNvSpPr txBox="1"/>
          <p:nvPr/>
        </p:nvSpPr>
        <p:spPr>
          <a:xfrm>
            <a:off x="9930384" y="2862072"/>
            <a:ext cx="201168" cy="365760"/>
          </a:xfrm>
          <a:prstGeom prst="rect">
            <a:avLst/>
          </a:prstGeom>
          <a:noFill/>
        </p:spPr>
        <p:txBody>
          <a:bodyPr wrap="square" lIns="0" rIns="0">
            <a:spAutoFit/>
          </a:bodyPr>
          <a:lstStyle/>
          <a:p>
            <a:pPr>
              <a:defRPr sz="1600">
                <a:solidFill>
                  <a:srgbClr val="0F172A"/>
                </a:solidFill>
              </a:defRPr>
            </a:pPr>
            <a:r>
              <a:t>→</a:t>
            </a:r>
          </a:p>
        </p:txBody>
      </p:sp>
      <p:sp>
        <p:nvSpPr>
          <p:cNvPr id="27" name="Rounded Rectangle 26"/>
          <p:cNvSpPr/>
          <p:nvPr/>
        </p:nvSpPr>
        <p:spPr>
          <a:xfrm>
            <a:off x="10149840" y="2606040"/>
            <a:ext cx="1746504" cy="868680"/>
          </a:xfrm>
          <a:prstGeom prst="roundRect">
            <a:avLst/>
          </a:prstGeom>
          <a:solidFill>
            <a:srgbClr val="F0FDFA"/>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a:solidFill>
                  <a:srgbClr val="0F172A"/>
                </a:solidFill>
              </a:defRPr>
            </a:pPr>
            <a:r>
              <a:t>Measurement /</a:t>
            </a:r>
          </a:p>
          <a:p>
            <a:pPr algn="ctr">
              <a:defRPr sz="1300">
                <a:solidFill>
                  <a:srgbClr val="0F172A"/>
                </a:solidFill>
              </a:defRPr>
            </a:pPr>
            <a:r>
              <a:t>conclusion</a:t>
            </a:r>
          </a:p>
        </p:txBody>
      </p:sp>
      <p:sp>
        <p:nvSpPr>
          <p:cNvPr id="28" name="TextBox 27"/>
          <p:cNvSpPr txBox="1"/>
          <p:nvPr/>
        </p:nvSpPr>
        <p:spPr>
          <a:xfrm>
            <a:off x="274320" y="3657600"/>
            <a:ext cx="1828800" cy="365760"/>
          </a:xfrm>
          <a:prstGeom prst="rect">
            <a:avLst/>
          </a:prstGeom>
          <a:noFill/>
        </p:spPr>
        <p:txBody>
          <a:bodyPr wrap="square" lIns="0" rIns="0">
            <a:spAutoFit/>
          </a:bodyPr>
          <a:lstStyle/>
          <a:p>
            <a:pPr>
              <a:defRPr sz="1800">
                <a:solidFill>
                  <a:srgbClr val="0F172A"/>
                </a:solidFill>
              </a:defRPr>
            </a:pPr>
            <a:r>
              <a:t>DRY</a:t>
            </a:r>
          </a:p>
        </p:txBody>
      </p:sp>
      <p:sp>
        <p:nvSpPr>
          <p:cNvPr id="29" name="Rounded Rectangle 28"/>
          <p:cNvSpPr/>
          <p:nvPr/>
        </p:nvSpPr>
        <p:spPr>
          <a:xfrm>
            <a:off x="274320" y="4114800"/>
            <a:ext cx="1746504" cy="868680"/>
          </a:xfrm>
          <a:prstGeom prst="roundRect">
            <a:avLst/>
          </a:prstGeom>
          <a:solidFill>
            <a:srgbClr val="F0FDFA"/>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a:solidFill>
                  <a:srgbClr val="0F172A"/>
                </a:solidFill>
              </a:defRPr>
            </a:pPr>
            <a:r>
              <a:t>Methods</a:t>
            </a:r>
          </a:p>
        </p:txBody>
      </p:sp>
      <p:sp>
        <p:nvSpPr>
          <p:cNvPr id="30" name="TextBox 29"/>
          <p:cNvSpPr txBox="1"/>
          <p:nvPr/>
        </p:nvSpPr>
        <p:spPr>
          <a:xfrm>
            <a:off x="2029968" y="4370832"/>
            <a:ext cx="201168" cy="365760"/>
          </a:xfrm>
          <a:prstGeom prst="rect">
            <a:avLst/>
          </a:prstGeom>
          <a:noFill/>
        </p:spPr>
        <p:txBody>
          <a:bodyPr wrap="square" lIns="0" rIns="0">
            <a:spAutoFit/>
          </a:bodyPr>
          <a:lstStyle/>
          <a:p>
            <a:pPr>
              <a:defRPr sz="1600">
                <a:solidFill>
                  <a:srgbClr val="0F172A"/>
                </a:solidFill>
              </a:defRPr>
            </a:pPr>
            <a:r>
              <a:t>→</a:t>
            </a:r>
          </a:p>
        </p:txBody>
      </p:sp>
      <p:sp>
        <p:nvSpPr>
          <p:cNvPr id="31" name="Rounded Rectangle 30"/>
          <p:cNvSpPr/>
          <p:nvPr/>
        </p:nvSpPr>
        <p:spPr>
          <a:xfrm>
            <a:off x="2249424" y="4114800"/>
            <a:ext cx="1746504" cy="868680"/>
          </a:xfrm>
          <a:prstGeom prst="roundRect">
            <a:avLst/>
          </a:prstGeom>
          <a:solidFill>
            <a:srgbClr val="F0FDFA"/>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a:solidFill>
                  <a:srgbClr val="0F172A"/>
                </a:solidFill>
              </a:defRPr>
            </a:pPr>
            <a:r>
              <a:t>Data / resources</a:t>
            </a:r>
          </a:p>
        </p:txBody>
      </p:sp>
      <p:sp>
        <p:nvSpPr>
          <p:cNvPr id="32" name="TextBox 31"/>
          <p:cNvSpPr txBox="1"/>
          <p:nvPr/>
        </p:nvSpPr>
        <p:spPr>
          <a:xfrm>
            <a:off x="4005072" y="4370832"/>
            <a:ext cx="201168" cy="365760"/>
          </a:xfrm>
          <a:prstGeom prst="rect">
            <a:avLst/>
          </a:prstGeom>
          <a:noFill/>
        </p:spPr>
        <p:txBody>
          <a:bodyPr wrap="square" lIns="0" rIns="0">
            <a:spAutoFit/>
          </a:bodyPr>
          <a:lstStyle/>
          <a:p>
            <a:pPr>
              <a:defRPr sz="1600">
                <a:solidFill>
                  <a:srgbClr val="0F172A"/>
                </a:solidFill>
              </a:defRPr>
            </a:pPr>
            <a:r>
              <a:t>→</a:t>
            </a:r>
          </a:p>
        </p:txBody>
      </p:sp>
      <p:sp>
        <p:nvSpPr>
          <p:cNvPr id="33" name="Rounded Rectangle 32"/>
          <p:cNvSpPr/>
          <p:nvPr/>
        </p:nvSpPr>
        <p:spPr>
          <a:xfrm>
            <a:off x="4224528" y="4114800"/>
            <a:ext cx="1746504" cy="868680"/>
          </a:xfrm>
          <a:prstGeom prst="roundRect">
            <a:avLst/>
          </a:prstGeom>
          <a:solidFill>
            <a:srgbClr val="F0FDFA"/>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a:solidFill>
                  <a:srgbClr val="0F172A"/>
                </a:solidFill>
              </a:defRPr>
            </a:pPr>
            <a:r>
              <a:t>Computational</a:t>
            </a:r>
          </a:p>
          <a:p>
            <a:pPr algn="ctr">
              <a:defRPr sz="1300">
                <a:solidFill>
                  <a:srgbClr val="0F172A"/>
                </a:solidFill>
              </a:defRPr>
            </a:pPr>
            <a:r>
              <a:t>specification</a:t>
            </a:r>
          </a:p>
        </p:txBody>
      </p:sp>
      <p:sp>
        <p:nvSpPr>
          <p:cNvPr id="34" name="TextBox 33"/>
          <p:cNvSpPr txBox="1"/>
          <p:nvPr/>
        </p:nvSpPr>
        <p:spPr>
          <a:xfrm>
            <a:off x="5980176" y="4370832"/>
            <a:ext cx="201168" cy="365760"/>
          </a:xfrm>
          <a:prstGeom prst="rect">
            <a:avLst/>
          </a:prstGeom>
          <a:noFill/>
        </p:spPr>
        <p:txBody>
          <a:bodyPr wrap="square" lIns="0" rIns="0">
            <a:spAutoFit/>
          </a:bodyPr>
          <a:lstStyle/>
          <a:p>
            <a:pPr>
              <a:defRPr sz="1600">
                <a:solidFill>
                  <a:srgbClr val="0F172A"/>
                </a:solidFill>
              </a:defRPr>
            </a:pPr>
            <a:r>
              <a:t>→</a:t>
            </a:r>
          </a:p>
        </p:txBody>
      </p:sp>
      <p:sp>
        <p:nvSpPr>
          <p:cNvPr id="35" name="Rounded Rectangle 34"/>
          <p:cNvSpPr/>
          <p:nvPr/>
        </p:nvSpPr>
        <p:spPr>
          <a:xfrm>
            <a:off x="6199632" y="4114800"/>
            <a:ext cx="1746504" cy="868680"/>
          </a:xfrm>
          <a:prstGeom prst="roundRect">
            <a:avLst/>
          </a:prstGeom>
          <a:solidFill>
            <a:srgbClr val="F0FDFA"/>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a:solidFill>
                  <a:srgbClr val="0F172A"/>
                </a:solidFill>
              </a:defRPr>
            </a:pPr>
            <a:r>
              <a:t>Independent</a:t>
            </a:r>
          </a:p>
          <a:p>
            <a:pPr algn="ctr">
              <a:defRPr sz="1300">
                <a:solidFill>
                  <a:srgbClr val="0F172A"/>
                </a:solidFill>
              </a:defRPr>
            </a:pPr>
            <a:r>
              <a:t>implementation</a:t>
            </a:r>
          </a:p>
        </p:txBody>
      </p:sp>
      <p:sp>
        <p:nvSpPr>
          <p:cNvPr id="36" name="TextBox 35"/>
          <p:cNvSpPr txBox="1"/>
          <p:nvPr/>
        </p:nvSpPr>
        <p:spPr>
          <a:xfrm>
            <a:off x="7955280" y="4370832"/>
            <a:ext cx="201168" cy="365760"/>
          </a:xfrm>
          <a:prstGeom prst="rect">
            <a:avLst/>
          </a:prstGeom>
          <a:noFill/>
        </p:spPr>
        <p:txBody>
          <a:bodyPr wrap="square" lIns="0" rIns="0">
            <a:spAutoFit/>
          </a:bodyPr>
          <a:lstStyle/>
          <a:p>
            <a:pPr>
              <a:defRPr sz="1600">
                <a:solidFill>
                  <a:srgbClr val="0F172A"/>
                </a:solidFill>
              </a:defRPr>
            </a:pPr>
            <a:r>
              <a:t>→</a:t>
            </a:r>
          </a:p>
        </p:txBody>
      </p:sp>
      <p:sp>
        <p:nvSpPr>
          <p:cNvPr id="37" name="Rounded Rectangle 36"/>
          <p:cNvSpPr/>
          <p:nvPr/>
        </p:nvSpPr>
        <p:spPr>
          <a:xfrm>
            <a:off x="8174736" y="4114800"/>
            <a:ext cx="1746504" cy="868680"/>
          </a:xfrm>
          <a:prstGeom prst="roundRect">
            <a:avLst/>
          </a:prstGeom>
          <a:solidFill>
            <a:srgbClr val="F0FDFA"/>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a:solidFill>
                  <a:srgbClr val="0F172A"/>
                </a:solidFill>
              </a:defRPr>
            </a:pPr>
            <a:r>
              <a:t>Execute</a:t>
            </a:r>
          </a:p>
        </p:txBody>
      </p:sp>
      <p:sp>
        <p:nvSpPr>
          <p:cNvPr id="38" name="TextBox 37"/>
          <p:cNvSpPr txBox="1"/>
          <p:nvPr/>
        </p:nvSpPr>
        <p:spPr>
          <a:xfrm>
            <a:off x="9930384" y="4370832"/>
            <a:ext cx="201168" cy="365760"/>
          </a:xfrm>
          <a:prstGeom prst="rect">
            <a:avLst/>
          </a:prstGeom>
          <a:noFill/>
        </p:spPr>
        <p:txBody>
          <a:bodyPr wrap="square" lIns="0" rIns="0">
            <a:spAutoFit/>
          </a:bodyPr>
          <a:lstStyle/>
          <a:p>
            <a:pPr>
              <a:defRPr sz="1600">
                <a:solidFill>
                  <a:srgbClr val="0F172A"/>
                </a:solidFill>
              </a:defRPr>
            </a:pPr>
            <a:r>
              <a:t>→</a:t>
            </a:r>
          </a:p>
        </p:txBody>
      </p:sp>
      <p:sp>
        <p:nvSpPr>
          <p:cNvPr id="39" name="Rounded Rectangle 38"/>
          <p:cNvSpPr/>
          <p:nvPr/>
        </p:nvSpPr>
        <p:spPr>
          <a:xfrm>
            <a:off x="10149840" y="4114800"/>
            <a:ext cx="1746504" cy="868680"/>
          </a:xfrm>
          <a:prstGeom prst="roundRect">
            <a:avLst/>
          </a:prstGeom>
          <a:solidFill>
            <a:srgbClr val="F0FDFA"/>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a:solidFill>
                  <a:srgbClr val="0F172A"/>
                </a:solidFill>
              </a:defRPr>
            </a:pPr>
            <a:r>
              <a:t>Numerical result /</a:t>
            </a:r>
          </a:p>
          <a:p>
            <a:pPr algn="ctr">
              <a:defRPr sz="1300">
                <a:solidFill>
                  <a:srgbClr val="0F172A"/>
                </a:solidFill>
              </a:defRPr>
            </a:pPr>
            <a:r>
              <a:t>conclusion</a:t>
            </a:r>
          </a:p>
        </p:txBody>
      </p:sp>
      <p:sp>
        <p:nvSpPr>
          <p:cNvPr id="40" name="TextBox 39"/>
          <p:cNvSpPr txBox="1"/>
          <p:nvPr/>
        </p:nvSpPr>
        <p:spPr>
          <a:xfrm>
            <a:off x="274320" y="5596128"/>
            <a:ext cx="11430000" cy="822960"/>
          </a:xfrm>
          <a:prstGeom prst="rect">
            <a:avLst/>
          </a:prstGeom>
          <a:noFill/>
        </p:spPr>
        <p:txBody>
          <a:bodyPr wrap="square" lIns="0" rIns="0">
            <a:spAutoFit/>
          </a:bodyPr>
          <a:lstStyle/>
          <a:p>
            <a:pPr>
              <a:defRPr sz="1300">
                <a:solidFill>
                  <a:srgbClr val="0F172A"/>
                </a:solidFill>
              </a:defRPr>
            </a:pPr>
            <a:r>
              <a:t>Figure 1. Conceptual Wet/Dry framework. ACCESS is refined internally into three questions (resource accessible; exact input state identifiable; historical input state retrievable) because public resources can drift over time. Paper II focuses on RECONSTRUCT and observes EXECUTE and REPRODUCE. ROBUST belongs to future Paper III and is excluded. The two pathways are an analogy, not a literal equivalence or an empirical result.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11430000" cy="548640"/>
          </a:xfrm>
          <a:prstGeom prst="rect">
            <a:avLst/>
          </a:prstGeom>
          <a:noFill/>
        </p:spPr>
        <p:txBody>
          <a:bodyPr wrap="square" lIns="0" rIns="0">
            <a:spAutoFit/>
          </a:bodyPr>
          <a:lstStyle/>
          <a:p>
            <a:pPr>
              <a:defRPr sz="2400">
                <a:solidFill>
                  <a:srgbClr val="0F172A"/>
                </a:solidFill>
              </a:defRPr>
            </a:pPr>
            <a:r>
              <a:t>Table 1. Deposited source rows and PMID identities</a:t>
            </a:r>
          </a:p>
        </p:txBody>
      </p:sp>
      <p:graphicFrame>
        <p:nvGraphicFramePr>
          <p:cNvPr id="3" name="Table 2"/>
          <p:cNvGraphicFramePr>
            <a:graphicFrameLocks noGrp="1"/>
          </p:cNvGraphicFramePr>
          <p:nvPr/>
        </p:nvGraphicFramePr>
        <p:xfrm>
          <a:off x="457200" y="1097280"/>
          <a:ext cx="10972800" cy="438912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defRPr sz="1600"/>
                      </a:pPr>
                      <a:r>
                        <a:t>Recorded EPJ field</a:t>
                      </a:r>
                    </a:p>
                  </a:txBody>
                  <a:tcPr/>
                </a:tc>
                <a:tc>
                  <a:txBody>
                    <a:bodyPr/>
                    <a:lstStyle/>
                    <a:p>
                      <a:pPr>
                        <a:defRPr sz="1600"/>
                      </a:pPr>
                      <a:r>
                        <a:t>Source rows</a:t>
                      </a:r>
                    </a:p>
                  </a:txBody>
                  <a:tcPr/>
                </a:tc>
                <a:tc>
                  <a:txBody>
                    <a:bodyPr/>
                    <a:lstStyle/>
                    <a:p>
                      <a:pPr>
                        <a:defRPr sz="1600"/>
                      </a:pPr>
                      <a:r>
                        <a:t>Unique PMIDs in field</a:t>
                      </a:r>
                    </a:p>
                  </a:txBody>
                  <a:tcPr/>
                </a:tc>
              </a:tr>
              <a:tr h="548640">
                <a:tc>
                  <a:txBody>
                    <a:bodyPr/>
                    <a:lstStyle/>
                    <a:p>
                      <a:pPr>
                        <a:defRPr sz="1600"/>
                      </a:pPr>
                      <a:r>
                        <a:t>Biomedical Basic</a:t>
                      </a:r>
                    </a:p>
                  </a:txBody>
                  <a:tcPr/>
                </a:tc>
                <a:tc>
                  <a:txBody>
                    <a:bodyPr/>
                    <a:lstStyle/>
                    <a:p>
                      <a:pPr>
                        <a:defRPr sz="1600"/>
                      </a:pPr>
                      <a:r>
                        <a:t>1429</a:t>
                      </a:r>
                    </a:p>
                  </a:txBody>
                  <a:tcPr/>
                </a:tc>
                <a:tc>
                  <a:txBody>
                    <a:bodyPr/>
                    <a:lstStyle/>
                    <a:p>
                      <a:pPr>
                        <a:defRPr sz="1600"/>
                      </a:pPr>
                      <a:r>
                        <a:t>1429</a:t>
                      </a:r>
                    </a:p>
                  </a:txBody>
                  <a:tcPr/>
                </a:tc>
              </a:tr>
              <a:tr h="548640">
                <a:tc>
                  <a:txBody>
                    <a:bodyPr/>
                    <a:lstStyle/>
                    <a:p>
                      <a:pPr>
                        <a:defRPr sz="1600"/>
                      </a:pPr>
                      <a:r>
                        <a:t>Clinical Medicine</a:t>
                      </a:r>
                    </a:p>
                  </a:txBody>
                  <a:tcPr/>
                </a:tc>
                <a:tc>
                  <a:txBody>
                    <a:bodyPr/>
                    <a:lstStyle/>
                    <a:p>
                      <a:pPr>
                        <a:defRPr sz="1600"/>
                      </a:pPr>
                      <a:r>
                        <a:t>1429</a:t>
                      </a:r>
                    </a:p>
                  </a:txBody>
                  <a:tcPr/>
                </a:tc>
                <a:tc>
                  <a:txBody>
                    <a:bodyPr/>
                    <a:lstStyle/>
                    <a:p>
                      <a:pPr>
                        <a:defRPr sz="1600"/>
                      </a:pPr>
                      <a:r>
                        <a:t>1429</a:t>
                      </a:r>
                    </a:p>
                  </a:txBody>
                  <a:tcPr/>
                </a:tc>
              </a:tr>
              <a:tr h="548640">
                <a:tc>
                  <a:txBody>
                    <a:bodyPr/>
                    <a:lstStyle/>
                    <a:p>
                      <a:pPr>
                        <a:defRPr sz="1600"/>
                      </a:pPr>
                      <a:r>
                        <a:t>Chemistry Materials</a:t>
                      </a:r>
                    </a:p>
                  </a:txBody>
                  <a:tcPr/>
                </a:tc>
                <a:tc>
                  <a:txBody>
                    <a:bodyPr/>
                    <a:lstStyle/>
                    <a:p>
                      <a:pPr>
                        <a:defRPr sz="1600"/>
                      </a:pPr>
                      <a:r>
                        <a:t>1429</a:t>
                      </a:r>
                    </a:p>
                  </a:txBody>
                  <a:tcPr/>
                </a:tc>
                <a:tc>
                  <a:txBody>
                    <a:bodyPr/>
                    <a:lstStyle/>
                    <a:p>
                      <a:pPr>
                        <a:defRPr sz="1600"/>
                      </a:pPr>
                      <a:r>
                        <a:t>1429</a:t>
                      </a:r>
                    </a:p>
                  </a:txBody>
                  <a:tcPr/>
                </a:tc>
              </a:tr>
              <a:tr h="548640">
                <a:tc>
                  <a:txBody>
                    <a:bodyPr/>
                    <a:lstStyle/>
                    <a:p>
                      <a:pPr>
                        <a:defRPr sz="1600"/>
                      </a:pPr>
                      <a:r>
                        <a:t>Physics Engineering</a:t>
                      </a:r>
                    </a:p>
                  </a:txBody>
                  <a:tcPr/>
                </a:tc>
                <a:tc>
                  <a:txBody>
                    <a:bodyPr/>
                    <a:lstStyle/>
                    <a:p>
                      <a:pPr>
                        <a:defRPr sz="1600"/>
                      </a:pPr>
                      <a:r>
                        <a:t>1429</a:t>
                      </a:r>
                    </a:p>
                  </a:txBody>
                  <a:tcPr/>
                </a:tc>
                <a:tc>
                  <a:txBody>
                    <a:bodyPr/>
                    <a:lstStyle/>
                    <a:p>
                      <a:pPr>
                        <a:defRPr sz="1600"/>
                      </a:pPr>
                      <a:r>
                        <a:t>1428</a:t>
                      </a:r>
                    </a:p>
                  </a:txBody>
                  <a:tcPr/>
                </a:tc>
              </a:tr>
              <a:tr h="548640">
                <a:tc>
                  <a:txBody>
                    <a:bodyPr/>
                    <a:lstStyle/>
                    <a:p>
                      <a:pPr>
                        <a:defRPr sz="1600"/>
                      </a:pPr>
                      <a:r>
                        <a:t>Social Behavioral</a:t>
                      </a:r>
                    </a:p>
                  </a:txBody>
                  <a:tcPr/>
                </a:tc>
                <a:tc>
                  <a:txBody>
                    <a:bodyPr/>
                    <a:lstStyle/>
                    <a:p>
                      <a:pPr>
                        <a:defRPr sz="1600"/>
                      </a:pPr>
                      <a:r>
                        <a:t>1429</a:t>
                      </a:r>
                    </a:p>
                  </a:txBody>
                  <a:tcPr/>
                </a:tc>
                <a:tc>
                  <a:txBody>
                    <a:bodyPr/>
                    <a:lstStyle/>
                    <a:p>
                      <a:pPr>
                        <a:defRPr sz="1600"/>
                      </a:pPr>
                      <a:r>
                        <a:t>1429</a:t>
                      </a:r>
                    </a:p>
                  </a:txBody>
                  <a:tcPr/>
                </a:tc>
              </a:tr>
              <a:tr h="548640">
                <a:tc>
                  <a:txBody>
                    <a:bodyPr/>
                    <a:lstStyle/>
                    <a:p>
                      <a:pPr>
                        <a:defRPr sz="1600"/>
                      </a:pPr>
                      <a:r>
                        <a:t>Computational Science</a:t>
                      </a:r>
                    </a:p>
                  </a:txBody>
                  <a:tcPr/>
                </a:tc>
                <a:tc>
                  <a:txBody>
                    <a:bodyPr/>
                    <a:lstStyle/>
                    <a:p>
                      <a:pPr>
                        <a:defRPr sz="1600"/>
                      </a:pPr>
                      <a:r>
                        <a:t>1429</a:t>
                      </a:r>
                    </a:p>
                  </a:txBody>
                  <a:tcPr/>
                </a:tc>
                <a:tc>
                  <a:txBody>
                    <a:bodyPr/>
                    <a:lstStyle/>
                    <a:p>
                      <a:pPr>
                        <a:defRPr sz="1600"/>
                      </a:pPr>
                      <a:r>
                        <a:t>1429</a:t>
                      </a:r>
                    </a:p>
                  </a:txBody>
                  <a:tcPr/>
                </a:tc>
              </a:tr>
              <a:tr h="548640">
                <a:tc>
                  <a:txBody>
                    <a:bodyPr/>
                    <a:lstStyle/>
                    <a:p>
                      <a:pPr>
                        <a:defRPr sz="1600"/>
                      </a:pPr>
                      <a:r>
                        <a:t>Environmental Earth</a:t>
                      </a:r>
                    </a:p>
                  </a:txBody>
                  <a:tcPr/>
                </a:tc>
                <a:tc>
                  <a:txBody>
                    <a:bodyPr/>
                    <a:lstStyle/>
                    <a:p>
                      <a:pPr>
                        <a:defRPr sz="1600"/>
                      </a:pPr>
                      <a:r>
                        <a:t>1426</a:t>
                      </a:r>
                    </a:p>
                  </a:txBody>
                  <a:tcPr/>
                </a:tc>
                <a:tc>
                  <a:txBody>
                    <a:bodyPr/>
                    <a:lstStyle/>
                    <a:p>
                      <a:pPr>
                        <a:defRPr sz="1600"/>
                      </a:pPr>
                      <a:r>
                        <a:t>1423</a:t>
                      </a:r>
                    </a:p>
                  </a:txBody>
                  <a:tcPr/>
                </a:tc>
              </a:tr>
            </a:tbl>
          </a:graphicData>
        </a:graphic>
      </p:graphicFrame>
      <p:sp>
        <p:nvSpPr>
          <p:cNvPr id="4" name="TextBox 3"/>
          <p:cNvSpPr txBox="1"/>
          <p:nvPr/>
        </p:nvSpPr>
        <p:spPr>
          <a:xfrm>
            <a:off x="457200" y="5806440"/>
            <a:ext cx="10972800" cy="640080"/>
          </a:xfrm>
          <a:prstGeom prst="rect">
            <a:avLst/>
          </a:prstGeom>
          <a:noFill/>
        </p:spPr>
        <p:txBody>
          <a:bodyPr wrap="square" lIns="0" rIns="0">
            <a:spAutoFit/>
          </a:bodyPr>
          <a:lstStyle/>
          <a:p>
            <a:pPr>
              <a:defRPr sz="1500">
                <a:solidFill>
                  <a:srgbClr val="0F172A"/>
                </a:solidFill>
              </a:defRPr>
            </a:pPr>
            <a:r>
              <a:t>Observed source audit only. Field memberships overlap; do not sum within-field unique counts as a unique-paper total.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1980-01-01T00:00:00Z</dcterms:created>
  <dcterms:modified xsi:type="dcterms:W3CDTF">1980-01-01T00:00:00Z</dcterms:modified>
  <cp:category/>
</cp:coreProperties>
</file>