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400">
                <a:solidFill>
                  <a:srgbClr val="0F172A"/>
                </a:solidFill>
              </a:defRPr>
            </a:pPr>
            <a:r>
              <a:t>Figure 1. From description to a working scientific system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960120"/>
            <a:ext cx="2057400" cy="658368"/>
          </a:xfrm>
          <a:prstGeom prst="roundRect">
            <a:avLst/>
          </a:prstGeom>
          <a:solidFill>
            <a:srgbClr val="E2E8F0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59152" y="1033271"/>
            <a:ext cx="274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0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960120"/>
            <a:ext cx="2057400" cy="658368"/>
          </a:xfrm>
          <a:prstGeom prst="roundRect">
            <a:avLst/>
          </a:prstGeom>
          <a:solidFill>
            <a:srgbClr val="0F766E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RECONSTRUCT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36592" y="1033271"/>
            <a:ext cx="274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0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960120"/>
            <a:ext cx="2057400" cy="658368"/>
          </a:xfrm>
          <a:prstGeom prst="roundRect">
            <a:avLst/>
          </a:prstGeom>
          <a:solidFill>
            <a:srgbClr val="CCFBF1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EXECUTE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4032" y="1033271"/>
            <a:ext cx="274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0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960120"/>
            <a:ext cx="2057400" cy="658368"/>
          </a:xfrm>
          <a:prstGeom prst="roundRect">
            <a:avLst/>
          </a:prstGeom>
          <a:solidFill>
            <a:srgbClr val="CCFBF1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REPRODUCE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1472" y="1033271"/>
            <a:ext cx="274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0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960120"/>
            <a:ext cx="2057400" cy="658368"/>
          </a:xfrm>
          <a:prstGeom prst="roundRect">
            <a:avLst/>
          </a:prstGeom>
          <a:solidFill>
            <a:srgbClr val="FEF3C7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ROBUST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719072"/>
            <a:ext cx="68580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>
                <a:solidFill>
                  <a:srgbClr val="0F172A"/>
                </a:solidFill>
              </a:defRPr>
            </a:pPr>
            <a:r>
              <a:t>Paper II focus and downstream observations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1719072"/>
            <a:ext cx="21031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400">
                <a:solidFill>
                  <a:srgbClr val="0F172A"/>
                </a:solidFill>
              </a:defRPr>
            </a:pPr>
            <a:r>
              <a:t>Paper III: excluded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148840"/>
            <a:ext cx="1828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800">
                <a:solidFill>
                  <a:srgbClr val="0F172A"/>
                </a:solidFill>
              </a:defRPr>
            </a:pPr>
            <a:r>
              <a:t>WET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260604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286207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9424" y="260604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Materials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05072" y="286207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260604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Environmental /</a:t>
            </a:r>
          </a:p>
          <a:p>
            <a:pPr algn="ctr">
              <a:defRPr sz="1300">
                <a:solidFill>
                  <a:srgbClr val="0F172A"/>
                </a:solidFill>
              </a:defRPr>
            </a:pPr>
            <a:r>
              <a:t>procedural specification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0176" y="286207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60604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Reconstruct</a:t>
            </a:r>
          </a:p>
          <a:p>
            <a:pPr algn="ctr">
              <a:defRPr sz="1300">
                <a:solidFill>
                  <a:srgbClr val="0F172A"/>
                </a:solidFill>
              </a:defRPr>
            </a:pPr>
            <a:r>
              <a:t>experiment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286207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74736" y="260604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Execute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30384" y="286207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60604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Measurement /</a:t>
            </a:r>
          </a:p>
          <a:p>
            <a:pPr algn="ctr">
              <a:defRPr sz="1300">
                <a:solidFill>
                  <a:srgbClr val="0F172A"/>
                </a:solidFill>
              </a:defRPr>
            </a:pPr>
            <a:r>
              <a:t>conclusion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3657600"/>
            <a:ext cx="1828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800">
                <a:solidFill>
                  <a:srgbClr val="0F172A"/>
                </a:solidFill>
              </a:defRPr>
            </a:pPr>
            <a:r>
              <a:t>DRY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11480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Methods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29968" y="437083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49424" y="411480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Data / resources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437083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24528" y="411480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Computational</a:t>
            </a:r>
          </a:p>
          <a:p>
            <a:pPr algn="ctr">
              <a:defRPr sz="1300">
                <a:solidFill>
                  <a:srgbClr val="0F172A"/>
                </a:solidFill>
              </a:defRPr>
            </a:pPr>
            <a:r>
              <a:t>specification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0176" y="437083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11480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Independent</a:t>
            </a:r>
          </a:p>
          <a:p>
            <a:pPr algn="ctr">
              <a:defRPr sz="1300">
                <a:solidFill>
                  <a:srgbClr val="0F172A"/>
                </a:solidFill>
              </a:defRPr>
            </a:pPr>
            <a:r>
              <a:t>implementation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0" y="437083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411480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Execute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4370832"/>
            <a:ext cx="20116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600">
                <a:solidFill>
                  <a:srgbClr val="0F172A"/>
                </a:solidFill>
              </a:defRPr>
            </a:pPr>
            <a: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14800"/>
            <a:ext cx="1746504" cy="868680"/>
          </a:xfrm>
          <a:prstGeom prst="roundRect">
            <a:avLst/>
          </a:prstGeom>
          <a:solidFill>
            <a:srgbClr val="F0FD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0F172A"/>
                </a:solidFill>
              </a:defRPr>
            </a:pPr>
            <a:r>
              <a:t>Numerical result /</a:t>
            </a:r>
          </a:p>
          <a:p>
            <a:pPr algn="ctr">
              <a:defRPr sz="1300">
                <a:solidFill>
                  <a:srgbClr val="0F172A"/>
                </a:solidFill>
              </a:defRPr>
            </a:pPr>
            <a:r>
              <a:t>conclusion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5596128"/>
            <a:ext cx="114300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300">
                <a:solidFill>
                  <a:srgbClr val="0F172A"/>
                </a:solidFill>
              </a:defRPr>
            </a:pPr>
            <a:r>
              <a:t>Figure 1. Conceptual Wet/Dry framework. Paper II focuses on RECONSTRUCT and observes EXECUTE and REPRODUCE. ROBUST belongs to future Paper III and is excluded. The two pathways are an analogy, not a literal equivalence or an empirical result.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400">
                <a:solidFill>
                  <a:srgbClr val="0F172A"/>
                </a:solidFill>
              </a:defRPr>
            </a:pPr>
            <a:r>
              <a:t>Table 1. Deposited source rows and PMID identities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Recorded EPJ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Source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Unique PMIDs in field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Biomedical Basic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Clinical Medicine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Chemistry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Physics 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Social Behavioral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Computational 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Environmental Earth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1423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806440"/>
            <a:ext cx="109728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>
                <a:solidFill>
                  <a:srgbClr val="0F172A"/>
                </a:solidFill>
              </a:defRPr>
            </a:pPr>
            <a:r>
              <a:t>Observed source audit only. Field memberships overlap; do not sum within-field unique counts as a unique-paper total.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